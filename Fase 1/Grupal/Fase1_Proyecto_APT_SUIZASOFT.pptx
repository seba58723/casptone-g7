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9144000"/>
  <p:notesSz cx="6858000" cy="9144000"/>
  <p:embeddedFontLst>
    <p:embeddedFont>
      <p:font typeface="Franklin Gothic"/>
      <p:bold r:id="rId23"/>
    </p:embeddedFont>
    <p:embeddedFont>
      <p:font typeface="Bebas Neue"/>
      <p:regular r:id="rId24"/>
    </p:embeddedFont>
    <p:embeddedFont>
      <p:font typeface="Roboto Condensed"/>
      <p:regular r:id="rId25"/>
      <p:bold r:id="rId26"/>
      <p:italic r:id="rId27"/>
      <p:boldItalic r:id="rId28"/>
    </p:embeddedFont>
    <p:embeddedFont>
      <p:font typeface="Roboto Mon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3" roundtripDataSignature="AMtx7mimfqyyB2SJ1kT9jgPQgMwtCcU8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7DC807F-A405-4548-83C1-0E1C250D2D64}">
  <a:tblStyle styleId="{47DC807F-A405-4548-83C1-0E1C250D2D64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9E7EB"/>
          </a:solidFill>
        </a:fill>
      </a:tcStyle>
    </a:wholeTbl>
    <a:band1H>
      <a:tcTxStyle/>
      <a:tcStyle>
        <a:fill>
          <a:solidFill>
            <a:srgbClr val="F2CCD5"/>
          </a:solidFill>
        </a:fill>
      </a:tcStyle>
    </a:band1H>
    <a:band2H>
      <a:tcTxStyle/>
    </a:band2H>
    <a:band1V>
      <a:tcTxStyle/>
      <a:tcStyle>
        <a:fill>
          <a:solidFill>
            <a:srgbClr val="F2CCD5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BebasNeue-regular.fntdata"/><Relationship Id="rId23" Type="http://schemas.openxmlformats.org/officeDocument/2006/relationships/font" Target="fonts/FranklinGothic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Condensed-bold.fntdata"/><Relationship Id="rId25" Type="http://schemas.openxmlformats.org/officeDocument/2006/relationships/font" Target="fonts/RobotoCondensed-regular.fntdata"/><Relationship Id="rId28" Type="http://schemas.openxmlformats.org/officeDocument/2006/relationships/font" Target="fonts/RobotoCondensed-boldItalic.fntdata"/><Relationship Id="rId27" Type="http://schemas.openxmlformats.org/officeDocument/2006/relationships/font" Target="fonts/RobotoCondensed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Mon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ono-italic.fntdata"/><Relationship Id="rId30" Type="http://schemas.openxmlformats.org/officeDocument/2006/relationships/font" Target="fonts/RobotoMono-bold.fntdata"/><Relationship Id="rId11" Type="http://schemas.openxmlformats.org/officeDocument/2006/relationships/slide" Target="slides/slide5.xml"/><Relationship Id="rId33" Type="http://customschemas.google.com/relationships/presentationmetadata" Target="metadata"/><Relationship Id="rId10" Type="http://schemas.openxmlformats.org/officeDocument/2006/relationships/slide" Target="slides/slide4.xml"/><Relationship Id="rId32" Type="http://schemas.openxmlformats.org/officeDocument/2006/relationships/font" Target="fonts/RobotoMon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/>
          <p:nvPr/>
        </p:nvSpPr>
        <p:spPr>
          <a:xfrm flipH="1">
            <a:off x="-1" y="0"/>
            <a:ext cx="4629587" cy="6858000"/>
          </a:xfrm>
          <a:custGeom>
            <a:rect b="b" l="l" r="r" t="t"/>
            <a:pathLst>
              <a:path extrusionOk="0" h="6858000" w="6172782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" y="11958"/>
            <a:ext cx="4518116" cy="6840855"/>
          </a:xfrm>
          <a:custGeom>
            <a:rect b="b" l="l" r="r" t="t"/>
            <a:pathLst>
              <a:path extrusionOk="0" h="6858000" w="6024154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12" name="Google Shape;1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0123" y="212270"/>
            <a:ext cx="3748263" cy="586221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8"/>
          <p:cNvSpPr txBox="1"/>
          <p:nvPr>
            <p:ph idx="1" type="subTitle"/>
          </p:nvPr>
        </p:nvSpPr>
        <p:spPr>
          <a:xfrm>
            <a:off x="5284700" y="5620875"/>
            <a:ext cx="3603900" cy="873900"/>
          </a:xfrm>
          <a:prstGeom prst="rect">
            <a:avLst/>
          </a:prstGeom>
          <a:solidFill>
            <a:srgbClr val="DE3075"/>
          </a:solidFill>
          <a:ln>
            <a:noFill/>
          </a:ln>
        </p:spPr>
        <p:txBody>
          <a:bodyPr anchorCtr="0" anchor="t" bIns="0" lIns="91425" spcFirstLastPara="1" rIns="182875" wrap="square" tIns="0">
            <a:no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b="1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1" sz="4800">
                <a:solidFill>
                  <a:srgbClr val="FFFFFF"/>
                </a:solidFill>
              </a:defRPr>
            </a:lvl2pPr>
            <a:lvl3pPr lvl="2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4800">
                <a:solidFill>
                  <a:srgbClr val="FFFFFF"/>
                </a:solidFill>
              </a:defRPr>
            </a:lvl3pPr>
            <a:lvl4pPr lvl="3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4800">
                <a:solidFill>
                  <a:srgbClr val="FFFFFF"/>
                </a:solidFill>
              </a:defRPr>
            </a:lvl4pPr>
            <a:lvl5pPr lvl="4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b="1" sz="4800">
                <a:solidFill>
                  <a:srgbClr val="FFFFFF"/>
                </a:solidFill>
              </a:defRPr>
            </a:lvl5pPr>
            <a:lvl6pPr lvl="5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b="1" sz="4800">
                <a:solidFill>
                  <a:srgbClr val="FFFFFF"/>
                </a:solidFill>
              </a:defRPr>
            </a:lvl6pPr>
            <a:lvl7pPr lvl="6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b="1" sz="4800">
                <a:solidFill>
                  <a:srgbClr val="FFFFFF"/>
                </a:solidFill>
              </a:defRPr>
            </a:lvl7pPr>
            <a:lvl8pPr lvl="7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b="1" sz="4800">
                <a:solidFill>
                  <a:srgbClr val="FFFFFF"/>
                </a:solidFill>
              </a:defRPr>
            </a:lvl8pPr>
            <a:lvl9pPr lvl="8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600"/>
              <a:buNone/>
              <a:defRPr b="1" sz="4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type="title"/>
          </p:nvPr>
        </p:nvSpPr>
        <p:spPr>
          <a:xfrm>
            <a:off x="3993775" y="2487700"/>
            <a:ext cx="4894800" cy="2891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660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1">
  <p:cSld name="TITLE_4_1_1">
    <p:bg>
      <p:bgPr>
        <a:solidFill>
          <a:schemeClr val="dk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77307" y="186298"/>
            <a:ext cx="3812148" cy="6013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oogle Shape;17;p19"/>
          <p:cNvGrpSpPr/>
          <p:nvPr/>
        </p:nvGrpSpPr>
        <p:grpSpPr>
          <a:xfrm>
            <a:off x="0" y="-124"/>
            <a:ext cx="4853665" cy="5740374"/>
            <a:chOff x="0" y="-126"/>
            <a:chExt cx="4554438" cy="5386482"/>
          </a:xfrm>
        </p:grpSpPr>
        <p:sp>
          <p:nvSpPr>
            <p:cNvPr id="18" name="Google Shape;18;p19"/>
            <p:cNvSpPr/>
            <p:nvPr/>
          </p:nvSpPr>
          <p:spPr>
            <a:xfrm flipH="1" rot="10800000">
              <a:off x="0" y="-126"/>
              <a:ext cx="4554438" cy="5386482"/>
            </a:xfrm>
            <a:custGeom>
              <a:rect b="b" l="l" r="r" t="t"/>
              <a:pathLst>
                <a:path extrusionOk="0" h="6374535" w="5389868">
                  <a:moveTo>
                    <a:pt x="620377" y="6374535"/>
                  </a:moveTo>
                  <a:lnTo>
                    <a:pt x="3459520" y="6374535"/>
                  </a:lnTo>
                  <a:lnTo>
                    <a:pt x="3638761" y="6288190"/>
                  </a:lnTo>
                  <a:cubicBezTo>
                    <a:pt x="4681799" y="5721578"/>
                    <a:pt x="5389868" y="4616487"/>
                    <a:pt x="5389868" y="3346018"/>
                  </a:cubicBezTo>
                  <a:cubicBezTo>
                    <a:pt x="5389868" y="1498063"/>
                    <a:pt x="3891805" y="0"/>
                    <a:pt x="2043850" y="0"/>
                  </a:cubicBezTo>
                  <a:cubicBezTo>
                    <a:pt x="1336430" y="0"/>
                    <a:pt x="680285" y="219535"/>
                    <a:pt x="139826" y="594192"/>
                  </a:cubicBezTo>
                  <a:lnTo>
                    <a:pt x="0" y="700065"/>
                  </a:lnTo>
                  <a:lnTo>
                    <a:pt x="0" y="5991971"/>
                  </a:lnTo>
                  <a:lnTo>
                    <a:pt x="139827" y="6097845"/>
                  </a:lnTo>
                  <a:cubicBezTo>
                    <a:pt x="217035" y="6151367"/>
                    <a:pt x="296605" y="6201724"/>
                    <a:pt x="378347" y="6248727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Una caricatura de una ciudad&#10;&#10;Descripción generada automáticamente" id="19" name="Google Shape;19;p19"/>
            <p:cNvPicPr preferRelativeResize="0"/>
            <p:nvPr/>
          </p:nvPicPr>
          <p:blipFill rotWithShape="1">
            <a:blip r:embed="rId3">
              <a:alphaModFix/>
            </a:blip>
            <a:srcRect b="0" l="9870" r="6482" t="0"/>
            <a:stretch/>
          </p:blipFill>
          <p:spPr>
            <a:xfrm>
              <a:off x="1" y="-1"/>
              <a:ext cx="4423169" cy="5247982"/>
            </a:xfrm>
            <a:custGeom>
              <a:rect b="b" l="l" r="r" t="t"/>
              <a:pathLst>
                <a:path extrusionOk="0" h="6210629" w="5234519">
                  <a:moveTo>
                    <a:pt x="1082595" y="0"/>
                  </a:moveTo>
                  <a:lnTo>
                    <a:pt x="3027450" y="0"/>
                  </a:lnTo>
                  <a:lnTo>
                    <a:pt x="3291029" y="96471"/>
                  </a:lnTo>
                  <a:cubicBezTo>
                    <a:pt x="4433137" y="579542"/>
                    <a:pt x="5234519" y="1710443"/>
                    <a:pt x="5234519" y="3028517"/>
                  </a:cubicBezTo>
                  <a:cubicBezTo>
                    <a:pt x="5234519" y="4785949"/>
                    <a:pt x="3809839" y="6210629"/>
                    <a:pt x="2052407" y="6210629"/>
                  </a:cubicBezTo>
                  <a:cubicBezTo>
                    <a:pt x="1283531" y="6210629"/>
                    <a:pt x="578345" y="5937936"/>
                    <a:pt x="28288" y="5483989"/>
                  </a:cubicBezTo>
                  <a:lnTo>
                    <a:pt x="0" y="5458279"/>
                  </a:lnTo>
                  <a:lnTo>
                    <a:pt x="0" y="598754"/>
                  </a:lnTo>
                  <a:lnTo>
                    <a:pt x="28288" y="573044"/>
                  </a:lnTo>
                  <a:cubicBezTo>
                    <a:pt x="303317" y="346070"/>
                    <a:pt x="617127" y="164410"/>
                    <a:pt x="958290" y="39494"/>
                  </a:cubicBezTo>
                  <a:close/>
                </a:path>
              </a:pathLst>
            </a:custGeom>
            <a:noFill/>
            <a:ln>
              <a:noFill/>
            </a:ln>
          </p:spPr>
        </p:pic>
      </p:grpSp>
      <p:sp>
        <p:nvSpPr>
          <p:cNvPr id="20" name="Google Shape;20;p19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1">
  <p:cSld name="Título y objetos 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/>
          <p:nvPr/>
        </p:nvSpPr>
        <p:spPr>
          <a:xfrm>
            <a:off x="1372975" y="212725"/>
            <a:ext cx="4806374" cy="8130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3" name="Google Shape;23;p20"/>
          <p:cNvSpPr/>
          <p:nvPr/>
        </p:nvSpPr>
        <p:spPr>
          <a:xfrm>
            <a:off x="770850" y="212725"/>
            <a:ext cx="903600" cy="813000"/>
          </a:xfrm>
          <a:prstGeom prst="parallelogram">
            <a:avLst>
              <a:gd fmla="val 45310" name="adj"/>
            </a:avLst>
          </a:prstGeom>
          <a:solidFill>
            <a:srgbClr val="8189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0"/>
          <p:cNvSpPr/>
          <p:nvPr/>
        </p:nvSpPr>
        <p:spPr>
          <a:xfrm>
            <a:off x="146422" y="212725"/>
            <a:ext cx="903600" cy="8130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dk2"/>
              </a:gs>
              <a:gs pos="100000">
                <a:schemeClr val="dk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20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26" name="Google Shape;26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79349" y="389413"/>
            <a:ext cx="2746703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20"/>
          <p:cNvSpPr txBox="1"/>
          <p:nvPr>
            <p:ph idx="1" type="body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24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20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10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28" name="Google Shape;28;p20"/>
          <p:cNvSpPr txBox="1"/>
          <p:nvPr/>
        </p:nvSpPr>
        <p:spPr>
          <a:xfrm>
            <a:off x="69151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L" sz="12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12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3">
  <p:cSld name="OBJECT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/>
          <p:nvPr/>
        </p:nvSpPr>
        <p:spPr>
          <a:xfrm>
            <a:off x="770850" y="212725"/>
            <a:ext cx="903600" cy="813000"/>
          </a:xfrm>
          <a:prstGeom prst="parallelogram">
            <a:avLst>
              <a:gd fmla="val 45310" name="adj"/>
            </a:avLst>
          </a:prstGeom>
          <a:solidFill>
            <a:srgbClr val="7027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1"/>
          <p:cNvSpPr/>
          <p:nvPr/>
        </p:nvSpPr>
        <p:spPr>
          <a:xfrm>
            <a:off x="146422" y="212725"/>
            <a:ext cx="903600" cy="8130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" name="Google Shape;32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79349" y="389413"/>
            <a:ext cx="2746703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1"/>
          <p:cNvSpPr txBox="1"/>
          <p:nvPr>
            <p:ph idx="1" type="body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24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20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10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34" name="Google Shape;34;p21"/>
          <p:cNvSpPr/>
          <p:nvPr/>
        </p:nvSpPr>
        <p:spPr>
          <a:xfrm>
            <a:off x="1372975" y="212725"/>
            <a:ext cx="4806374" cy="8130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5" name="Google Shape;35;p21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/>
        </p:nvSpPr>
        <p:spPr>
          <a:xfrm>
            <a:off x="69151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L" sz="12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12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solidFill>
          <a:schemeClr val="dk2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2"/>
          <p:cNvSpPr txBox="1"/>
          <p:nvPr>
            <p:ph idx="1" type="body"/>
          </p:nvPr>
        </p:nvSpPr>
        <p:spPr>
          <a:xfrm>
            <a:off x="560387" y="2634922"/>
            <a:ext cx="8023225" cy="227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○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indent="-3048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6pPr>
            <a:lvl7pPr indent="-2921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/>
            </a:lvl7pPr>
            <a:lvl8pPr indent="-2794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Char char="•"/>
              <a:defRPr/>
            </a:lvl8pPr>
            <a:lvl9pPr indent="-2667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600"/>
              <a:buChar char="•"/>
              <a:defRPr/>
            </a:lvl9pPr>
          </a:lstStyle>
          <a:p/>
        </p:txBody>
      </p:sp>
      <p:pic>
        <p:nvPicPr>
          <p:cNvPr id="39" name="Google Shape;39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79349" y="392750"/>
            <a:ext cx="2759037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2"/>
          <p:cNvSpPr txBox="1"/>
          <p:nvPr>
            <p:ph idx="2" type="body"/>
          </p:nvPr>
        </p:nvSpPr>
        <p:spPr>
          <a:xfrm>
            <a:off x="560387" y="1632286"/>
            <a:ext cx="8023225" cy="6657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○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indent="-3048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6pPr>
            <a:lvl7pPr indent="-2921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/>
            </a:lvl7pPr>
            <a:lvl8pPr indent="-2794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Char char="•"/>
              <a:defRPr/>
            </a:lvl8pPr>
            <a:lvl9pPr indent="-2667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600"/>
              <a:buChar char="•"/>
              <a:defRPr/>
            </a:lvl9pPr>
          </a:lstStyle>
          <a:p/>
        </p:txBody>
      </p:sp>
      <p:sp>
        <p:nvSpPr>
          <p:cNvPr id="41" name="Google Shape;41;p22"/>
          <p:cNvSpPr/>
          <p:nvPr/>
        </p:nvSpPr>
        <p:spPr>
          <a:xfrm>
            <a:off x="770850" y="212725"/>
            <a:ext cx="903600" cy="813000"/>
          </a:xfrm>
          <a:prstGeom prst="parallelogram">
            <a:avLst>
              <a:gd fmla="val 4531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2"/>
          <p:cNvSpPr/>
          <p:nvPr/>
        </p:nvSpPr>
        <p:spPr>
          <a:xfrm>
            <a:off x="146422" y="212725"/>
            <a:ext cx="903600" cy="8130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chemeClr val="dk2"/>
              </a:gs>
              <a:gs pos="65000">
                <a:schemeClr val="lt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2"/>
          <p:cNvSpPr/>
          <p:nvPr/>
        </p:nvSpPr>
        <p:spPr>
          <a:xfrm>
            <a:off x="1372975" y="212725"/>
            <a:ext cx="4806374" cy="813000"/>
          </a:xfrm>
          <a:prstGeom prst="parallelogram">
            <a:avLst>
              <a:gd fmla="val 4531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44" name="Google Shape;44;p22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 txBox="1"/>
          <p:nvPr/>
        </p:nvSpPr>
        <p:spPr>
          <a:xfrm>
            <a:off x="69151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L" sz="12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12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ólo el título">
  <p:cSld name="1_Sólo el título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-B.png" id="48" name="Google Shape;4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760483" y="6287016"/>
            <a:ext cx="1687458" cy="377364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4"/>
          <p:cNvSpPr/>
          <p:nvPr/>
        </p:nvSpPr>
        <p:spPr>
          <a:xfrm>
            <a:off x="586828" y="385379"/>
            <a:ext cx="8084206" cy="700690"/>
          </a:xfrm>
          <a:prstGeom prst="rect">
            <a:avLst/>
          </a:prstGeom>
          <a:solidFill>
            <a:srgbClr val="4A216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4"/>
          <p:cNvSpPr/>
          <p:nvPr/>
        </p:nvSpPr>
        <p:spPr>
          <a:xfrm>
            <a:off x="4117848" y="297797"/>
            <a:ext cx="1156138" cy="166414"/>
          </a:xfrm>
          <a:prstGeom prst="rect">
            <a:avLst/>
          </a:prstGeom>
          <a:solidFill>
            <a:srgbClr val="4A2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4"/>
          <p:cNvSpPr/>
          <p:nvPr/>
        </p:nvSpPr>
        <p:spPr>
          <a:xfrm>
            <a:off x="5264579" y="297797"/>
            <a:ext cx="1156138" cy="166414"/>
          </a:xfrm>
          <a:prstGeom prst="rect">
            <a:avLst/>
          </a:prstGeom>
          <a:solidFill>
            <a:srgbClr val="5A357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4"/>
          <p:cNvSpPr/>
          <p:nvPr/>
        </p:nvSpPr>
        <p:spPr>
          <a:xfrm>
            <a:off x="6411310" y="297797"/>
            <a:ext cx="1156138" cy="166414"/>
          </a:xfrm>
          <a:prstGeom prst="rect">
            <a:avLst/>
          </a:prstGeom>
          <a:solidFill>
            <a:srgbClr val="6D4E8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4"/>
          <p:cNvSpPr/>
          <p:nvPr/>
        </p:nvSpPr>
        <p:spPr>
          <a:xfrm>
            <a:off x="7514896" y="297797"/>
            <a:ext cx="1156138" cy="166414"/>
          </a:xfrm>
          <a:prstGeom prst="rect">
            <a:avLst/>
          </a:prstGeom>
          <a:solidFill>
            <a:srgbClr val="7D66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.jpg" id="54" name="Google Shape;5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828" y="6225296"/>
            <a:ext cx="1992643" cy="44626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»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○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indent="-3048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6pPr>
            <a:lvl7pPr indent="-2921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/>
            </a:lvl7pPr>
            <a:lvl8pPr indent="-2794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Char char="•"/>
              <a:defRPr/>
            </a:lvl8pPr>
            <a:lvl9pPr indent="-2667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6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idx="1" type="body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b="0" i="0" sz="24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b="0" i="0" sz="20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b="0" i="0" sz="1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b="0" i="0" sz="1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b="0" i="0" sz="14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b="0"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b="0" i="0" sz="10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b="0" i="0" sz="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b="0"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2" type="sldNum"/>
          </p:nvPr>
        </p:nvSpPr>
        <p:spPr>
          <a:xfrm>
            <a:off x="69151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sp>
        <p:nvSpPr>
          <p:cNvPr id="8" name="Google Shape;8;p17"/>
          <p:cNvSpPr txBox="1"/>
          <p:nvPr>
            <p:ph type="title"/>
          </p:nvPr>
        </p:nvSpPr>
        <p:spPr>
          <a:xfrm>
            <a:off x="1763700" y="212725"/>
            <a:ext cx="6751800" cy="8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/>
          <p:nvPr>
            <p:ph type="title"/>
          </p:nvPr>
        </p:nvSpPr>
        <p:spPr>
          <a:xfrm>
            <a:off x="4148520" y="3966900"/>
            <a:ext cx="4894800" cy="2891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br>
              <a:rPr lang="es-CL" sz="4000"/>
            </a:br>
            <a:br>
              <a:rPr lang="es-CL" sz="4000"/>
            </a:br>
            <a:r>
              <a:rPr lang="es-CL" sz="4000"/>
              <a:t>Fase1 Proyecto APT</a:t>
            </a:r>
            <a:br>
              <a:rPr lang="es-CL" sz="4000"/>
            </a:br>
            <a:br>
              <a:rPr lang="es-CL" sz="4000"/>
            </a:br>
            <a:br>
              <a:rPr lang="es-CL" sz="2000"/>
            </a:br>
            <a:r>
              <a:rPr b="1" lang="es-CL" sz="2000"/>
              <a:t>Docente:</a:t>
            </a:r>
            <a:r>
              <a:rPr lang="es-CL" sz="2000"/>
              <a:t>Reginaldo Salinas Bruna</a:t>
            </a:r>
            <a:br>
              <a:rPr lang="es-CL" sz="2000"/>
            </a:br>
            <a:r>
              <a:rPr lang="es-CL" sz="2000"/>
              <a:t>Grupo Nº: 7</a:t>
            </a:r>
            <a:br>
              <a:rPr lang="es-CL" sz="2000"/>
            </a:br>
            <a:r>
              <a:rPr lang="es-CL" sz="2000"/>
              <a:t>Integrantes:</a:t>
            </a:r>
            <a:br>
              <a:rPr lang="es-CL" sz="2000"/>
            </a:br>
            <a:r>
              <a:rPr lang="es-CL" sz="2000"/>
              <a:t>Jonathan Zúñiga</a:t>
            </a:r>
            <a:br>
              <a:rPr lang="es-CL" sz="2000"/>
            </a:br>
            <a:r>
              <a:rPr lang="es-CL" sz="2000"/>
              <a:t>Sebastián Olivares 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CL" sz="5400">
                <a:latin typeface="Calibri"/>
                <a:ea typeface="Calibri"/>
                <a:cs typeface="Calibri"/>
                <a:sym typeface="Calibri"/>
              </a:rPr>
              <a:t>Descripción breve del proyecto APT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-CL"/>
              <a:t>Descripción del proyecto</a:t>
            </a:r>
            <a:endParaRPr/>
          </a:p>
        </p:txBody>
      </p:sp>
      <p:sp>
        <p:nvSpPr>
          <p:cNvPr id="71" name="Google Shape;71;p3"/>
          <p:cNvSpPr txBox="1"/>
          <p:nvPr>
            <p:ph idx="1" type="body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»"/>
            </a:pPr>
            <a:r>
              <a:rPr b="1" lang="es-CL" sz="2000">
                <a:solidFill>
                  <a:srgbClr val="DE3075"/>
                </a:solidFill>
              </a:rPr>
              <a:t>Proyecto: </a:t>
            </a:r>
            <a:r>
              <a:rPr lang="es-CL" sz="2000"/>
              <a:t>SUIZASOFT – Módulo de Recepción y Control de Calidad de Fruta para Plantas Exportadoras.</a:t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SzPts val="2800"/>
              <a:buChar char="»"/>
            </a:pPr>
            <a:r>
              <a:rPr b="1" lang="es-CL" sz="2000">
                <a:solidFill>
                  <a:srgbClr val="702785"/>
                </a:solidFill>
              </a:rPr>
              <a:t>Qué resuelve: </a:t>
            </a:r>
            <a:r>
              <a:rPr lang="es-CL" sz="2000"/>
              <a:t>digitaliza el proceso de recepción y control de calidad de fruta en una planta exportadora real, reemplazando planillas físicas y sistemas de escritorio antiguos.</a:t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SzPts val="2800"/>
              <a:buChar char="»"/>
            </a:pPr>
            <a:r>
              <a:rPr b="1" lang="es-CL" sz="2000">
                <a:solidFill>
                  <a:srgbClr val="00A0DE"/>
                </a:solidFill>
              </a:rPr>
              <a:t>Qué registra: </a:t>
            </a:r>
            <a:r>
              <a:rPr lang="es-CL" sz="2000"/>
              <a:t>los datos de cada lote (exportador, productor, predio, variedad, guía, fechas, bultos y kilos), la evaluación de color/madurez y calibres, y la resolución del lote.</a:t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1900"/>
              </a:spcBef>
              <a:spcAft>
                <a:spcPts val="900"/>
              </a:spcAft>
              <a:buSzPts val="2800"/>
              <a:buChar char="»"/>
            </a:pPr>
            <a:r>
              <a:rPr b="1" lang="es-CL" sz="2000">
                <a:solidFill>
                  <a:srgbClr val="FA742C"/>
                </a:solidFill>
              </a:rPr>
              <a:t>Tecnología: </a:t>
            </a:r>
            <a:r>
              <a:rPr lang="es-CL" sz="2000"/>
              <a:t>backend Django integrado a la base de datos Sybase/SQL Anywhere de la planta, y frontend web (HTML, Bootstrap, JavaScript) pensado para uso en tablet.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CL" sz="5400">
                <a:latin typeface="Calibri"/>
                <a:ea typeface="Calibri"/>
                <a:cs typeface="Calibri"/>
                <a:sym typeface="Calibri"/>
              </a:rPr>
              <a:t>Relación con el perfil de egreso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-CL"/>
              <a:t>Relación con Perfil</a:t>
            </a:r>
            <a:endParaRPr/>
          </a:p>
        </p:txBody>
      </p:sp>
      <p:sp>
        <p:nvSpPr>
          <p:cNvPr id="82" name="Google Shape;82;p5"/>
          <p:cNvSpPr txBox="1"/>
          <p:nvPr>
            <p:ph idx="1" type="body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»"/>
            </a:pPr>
            <a:r>
              <a:rPr b="1" lang="es-CL" sz="2000">
                <a:solidFill>
                  <a:srgbClr val="DE3075"/>
                </a:solidFill>
              </a:rPr>
              <a:t>Perfil de egreso: </a:t>
            </a:r>
            <a:r>
              <a:rPr lang="es-CL" sz="2000"/>
              <a:t>se relaciona directamente con el de Ingeniería en Informática: análisis, diseño, desarrollo e integración de un sistema de información completo.</a:t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2800"/>
              <a:buChar char="»"/>
            </a:pPr>
            <a:r>
              <a:rPr b="1" lang="es-CL" sz="2000">
                <a:solidFill>
                  <a:srgbClr val="702785"/>
                </a:solidFill>
              </a:rPr>
              <a:t>Qué exige: </a:t>
            </a:r>
            <a:r>
              <a:rPr lang="es-CL" sz="2000"/>
              <a:t>modelar la lógica de negocio en el backend, diseñar una interfaz funcional para uso en terreno, e integrar datos con un sistema legado (Sybase) mediante procedimientos almacenados.</a:t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2000"/>
              </a:spcBef>
              <a:spcAft>
                <a:spcPts val="1000"/>
              </a:spcAft>
              <a:buSzPts val="2800"/>
              <a:buChar char="»"/>
            </a:pPr>
            <a:r>
              <a:rPr b="1" lang="es-CL" sz="2000">
                <a:solidFill>
                  <a:srgbClr val="00A0DE"/>
                </a:solidFill>
              </a:rPr>
              <a:t>Competencias: </a:t>
            </a:r>
            <a:r>
              <a:rPr lang="es-CL" sz="2000"/>
              <a:t>desarrollo de software y gestión/integración de bases de datos, las mismas que exige resolver esta problemática real de la industria exportadora.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CL" sz="5400">
                <a:latin typeface="Calibri"/>
                <a:ea typeface="Calibri"/>
                <a:cs typeface="Calibri"/>
                <a:sym typeface="Calibri"/>
              </a:rPr>
              <a:t>Factibilidad del proyecto en la asignatura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-CL"/>
              <a:t>Factibilidad del Proyecto</a:t>
            </a:r>
            <a:endParaRPr/>
          </a:p>
        </p:txBody>
      </p:sp>
      <p:sp>
        <p:nvSpPr>
          <p:cNvPr id="93" name="Google Shape;93;p7"/>
          <p:cNvSpPr txBox="1"/>
          <p:nvPr>
            <p:ph idx="1" type="body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»"/>
            </a:pPr>
            <a:r>
              <a:rPr b="1" lang="es-CL" sz="1800">
                <a:solidFill>
                  <a:srgbClr val="DE3075"/>
                </a:solidFill>
              </a:rPr>
              <a:t>Duración del semestre: </a:t>
            </a:r>
            <a:r>
              <a:rPr lang="es-CL" sz="1800"/>
              <a:t>18 semanas, organizadas en las 3 fases de la asignatura Portafolio de Título.</a:t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800"/>
              <a:buChar char="»"/>
            </a:pPr>
            <a:r>
              <a:rPr b="1" lang="es-CL" sz="1800">
                <a:solidFill>
                  <a:srgbClr val="00A0DE"/>
                </a:solidFill>
              </a:rPr>
              <a:t>Horas asignadas: </a:t>
            </a:r>
            <a:r>
              <a:rPr lang="es-CL" sz="1800"/>
              <a:t>permiten avanzar de forma sostenida en análisis, desarrollo, pruebas y documentación.</a:t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800"/>
              <a:buChar char="»"/>
            </a:pPr>
            <a:r>
              <a:rPr b="1" lang="es-CL" sz="1800">
                <a:solidFill>
                  <a:srgbClr val="702785"/>
                </a:solidFill>
              </a:rPr>
              <a:t>Materiales: </a:t>
            </a:r>
            <a:r>
              <a:rPr lang="es-CL" sz="1800"/>
              <a:t>equipos propios, entorno Django, y acceso a un ambiente de pruebas de la base Sybase/SQL Anywhere de la empresa.</a:t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800"/>
              <a:buChar char="»"/>
            </a:pPr>
            <a:r>
              <a:rPr b="1" lang="es-CL" sz="1800">
                <a:solidFill>
                  <a:srgbClr val="6E9E00"/>
                </a:solidFill>
              </a:rPr>
              <a:t>Factores que facilitan: </a:t>
            </a:r>
            <a:r>
              <a:rPr lang="es-CL" sz="1800"/>
              <a:t>caso real de una empresa exportadora de fruta y colaboración del personal de planta.</a:t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1800"/>
              </a:spcBef>
              <a:spcAft>
                <a:spcPts val="800"/>
              </a:spcAft>
              <a:buSzPts val="2800"/>
              <a:buChar char="»"/>
            </a:pPr>
            <a:r>
              <a:rPr b="1" lang="es-CL" sz="1800">
                <a:solidFill>
                  <a:srgbClr val="AE0F0F"/>
                </a:solidFill>
              </a:rPr>
              <a:t>Factores que dificultan: </a:t>
            </a:r>
            <a:r>
              <a:rPr lang="es-CL" sz="1800"/>
              <a:t>documentación parcial de los procedimientos almacenados de Sybase; se mitiga con reuniones periódicas con el equipo TI de la empresa.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CL" sz="5400">
                <a:latin typeface="Calibri"/>
                <a:ea typeface="Calibri"/>
                <a:cs typeface="Calibri"/>
                <a:sym typeface="Calibri"/>
              </a:rPr>
              <a:t>Objetivos del proyecto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-CL"/>
              <a:t>Objetivos del Proyecto</a:t>
            </a:r>
            <a:endParaRPr/>
          </a:p>
        </p:txBody>
      </p:sp>
      <p:sp>
        <p:nvSpPr>
          <p:cNvPr id="104" name="Google Shape;104;p9"/>
          <p:cNvSpPr txBox="1"/>
          <p:nvPr>
            <p:ph idx="1" type="body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»"/>
            </a:pPr>
            <a:r>
              <a:rPr b="1" lang="es-CL" sz="2000">
                <a:solidFill>
                  <a:srgbClr val="DE3075"/>
                </a:solidFill>
              </a:rPr>
              <a:t>Objetivo general: </a:t>
            </a:r>
            <a:r>
              <a:rPr lang="es-CL" sz="2000"/>
              <a:t>Desarrollar un sistema web de recepción y control de calidad de fruta (SUIZASOFT) integrado a la base de datos Sybase/SQL Anywhere de la planta.</a:t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SzPts val="2800"/>
              <a:buChar char="»"/>
            </a:pPr>
            <a:r>
              <a:rPr b="1" lang="es-CL" sz="2000">
                <a:solidFill>
                  <a:srgbClr val="172740"/>
                </a:solidFill>
              </a:rPr>
              <a:t>Objetivos específicos: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s-CL" sz="1800"/>
              <a:t>Levantar requerimientos y diseñar la arquitectura del sistema.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Char char="•"/>
            </a:pPr>
            <a:r>
              <a:rPr lang="es-CL" sz="1800"/>
              <a:t>Implementar la selección de especie y la planilla de recepción (color/madurez y calibres).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Char char="•"/>
            </a:pPr>
            <a:r>
              <a:rPr lang="es-CL" sz="1800"/>
              <a:t>Implementar la matriz de defectos, la estimación de fruta exportable y la resolución de lote.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Char char="•"/>
            </a:pPr>
            <a:r>
              <a:rPr lang="es-CL" sz="1800"/>
              <a:t>Realizar pruebas funcionales e integrales con la base de datos de la planta.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900"/>
              </a:spcBef>
              <a:spcAft>
                <a:spcPts val="400"/>
              </a:spcAft>
              <a:buSzPts val="2400"/>
              <a:buChar char="•"/>
            </a:pPr>
            <a:r>
              <a:rPr lang="es-CL" sz="1800"/>
              <a:t>Elaborar la documentación técnica y el manual de usuario.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0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CL" sz="5400">
                <a:latin typeface="Calibri"/>
                <a:ea typeface="Calibri"/>
                <a:cs typeface="Calibri"/>
                <a:sym typeface="Calibri"/>
              </a:rPr>
              <a:t>Metodología de trabajo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1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-CL"/>
              <a:t>Metodologías del Proyecto</a:t>
            </a:r>
            <a:endParaRPr/>
          </a:p>
        </p:txBody>
      </p:sp>
      <p:sp>
        <p:nvSpPr>
          <p:cNvPr id="115" name="Google Shape;115;p11"/>
          <p:cNvSpPr txBox="1"/>
          <p:nvPr>
            <p:ph idx="1" type="body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»"/>
            </a:pPr>
            <a:r>
              <a:rPr lang="es-CL" sz="1900"/>
              <a:t>Enfoque iterativo e incremental (tipo Scrum adaptado a 2 integrantes), con ciclos quincenales y entregables verificables.</a:t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800"/>
              <a:buChar char="»"/>
            </a:pPr>
            <a:r>
              <a:rPr lang="es-CL" sz="1900"/>
              <a:t>Etapas: (1) levantamiento de requerimientos, (2) diseño de arquitectura e integración con Sybase, (3) desarrollo iterativo de los módulos, (4) pruebas funcionales, (5) documentación y cierre.</a:t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800"/>
              <a:buChar char="»"/>
            </a:pPr>
            <a:r>
              <a:rPr b="1" lang="es-CL" sz="1900">
                <a:solidFill>
                  <a:srgbClr val="172740"/>
                </a:solidFill>
              </a:rPr>
              <a:t>Roles del equipo: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b="1" lang="es-CL" sz="1700">
                <a:solidFill>
                  <a:srgbClr val="DE3075"/>
                </a:solidFill>
              </a:rPr>
              <a:t>Jonathan Zúñiga: </a:t>
            </a:r>
            <a:r>
              <a:rPr lang="es-CL" sz="1700"/>
              <a:t>desarrollo full-stack (backend Django y frontend HTML/Bootstrap/JavaScript), integración con Sybase, y reuniones/levantamiento de requerimientos con la empresa.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b="1" lang="es-CL" sz="1700">
                <a:solidFill>
                  <a:srgbClr val="00A0DE"/>
                </a:solidFill>
              </a:rPr>
              <a:t>Sebastián Olivares: </a:t>
            </a:r>
            <a:r>
              <a:rPr lang="es-CL" sz="1700"/>
              <a:t>diseño de interfaz y experiencia de usuario (UX/UI), base para la implementación del frontend.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1000"/>
              </a:spcBef>
              <a:spcAft>
                <a:spcPts val="500"/>
              </a:spcAft>
              <a:buSzPts val="2400"/>
              <a:buChar char="•"/>
            </a:pPr>
            <a:r>
              <a:rPr b="1" lang="es-CL" sz="1700">
                <a:solidFill>
                  <a:srgbClr val="702785"/>
                </a:solidFill>
              </a:rPr>
              <a:t>Ambos: </a:t>
            </a:r>
            <a:r>
              <a:rPr lang="es-CL" sz="1700"/>
              <a:t>pruebas del sistema y documentación final.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2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CL" sz="5400">
                <a:latin typeface="Calibri"/>
                <a:ea typeface="Calibri"/>
                <a:cs typeface="Calibri"/>
                <a:sym typeface="Calibri"/>
              </a:rPr>
              <a:t>Plan de trabajo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-CL"/>
              <a:t>Plan del Proyecto</a:t>
            </a:r>
            <a:endParaRPr/>
          </a:p>
        </p:txBody>
      </p:sp>
      <p:graphicFrame>
        <p:nvGraphicFramePr>
          <p:cNvPr id="126" name="Google Shape;126;p13"/>
          <p:cNvGraphicFramePr/>
          <p:nvPr/>
        </p:nvGraphicFramePr>
        <p:xfrm>
          <a:off x="294150" y="1218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{47DC807F-A405-4548-83C1-0E1C250D2D64}</a:tableStyleId>
              </a:tblPr>
              <a:tblGrid>
                <a:gridCol w="5200000"/>
                <a:gridCol w="1400000"/>
                <a:gridCol w="1955700"/>
              </a:tblGrid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400" u="none" cap="none" strike="noStrike">
                          <a:solidFill>
                            <a:srgbClr val="FFFFFF"/>
                          </a:solidFill>
                        </a:rPr>
                        <a:t>Actividad</a:t>
                      </a:r>
                      <a:endParaRPr/>
                    </a:p>
                  </a:txBody>
                  <a:tcPr marT="22850" marB="22850" marR="45700" marL="45700" anchor="ctr">
                    <a:solidFill>
                      <a:srgbClr val="1727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400" u="none" cap="none" strike="noStrike">
                          <a:solidFill>
                            <a:srgbClr val="FFFFFF"/>
                          </a:solidFill>
                        </a:rPr>
                        <a:t>Duración</a:t>
                      </a:r>
                      <a:endParaRPr/>
                    </a:p>
                  </a:txBody>
                  <a:tcPr marT="22850" marB="22850" marR="45700" marL="45700" anchor="ctr">
                    <a:solidFill>
                      <a:srgbClr val="1727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400" u="none" cap="none" strike="noStrike">
                          <a:solidFill>
                            <a:srgbClr val="FFFFFF"/>
                          </a:solidFill>
                        </a:rPr>
                        <a:t>Responsable</a:t>
                      </a:r>
                      <a:endParaRPr/>
                    </a:p>
                  </a:txBody>
                  <a:tcPr marT="22850" marB="22850" marR="45700" marL="45700" anchor="ctr">
                    <a:solidFill>
                      <a:srgbClr val="172740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150" u="none" cap="none" strike="noStrike"/>
                        <a:t>Levantamiento de requerimientos</a:t>
                      </a:r>
                      <a:endParaRPr/>
                    </a:p>
                  </a:txBody>
                  <a:tcPr marT="22850" marB="22850" marR="45700" marL="457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150" u="none" cap="none" strike="noStrike"/>
                        <a:t>S1–S2</a:t>
                      </a:r>
                      <a:endParaRPr/>
                    </a:p>
                  </a:txBody>
                  <a:tcPr marT="22850" marB="22850" marR="45700" marL="457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150" u="none" cap="none" strike="noStrike"/>
                        <a:t>Jonathan</a:t>
                      </a:r>
                      <a:endParaRPr/>
                    </a:p>
                  </a:txBody>
                  <a:tcPr marT="22850" marB="22850" marR="45700" marL="45700" anchor="ctr"/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150" u="none" cap="none" strike="noStrike"/>
                        <a:t>Definición del Proyecto APT (Fase 1)</a:t>
                      </a:r>
                      <a:endParaRPr/>
                    </a:p>
                  </a:txBody>
                  <a:tcPr marT="22850" marB="22850" marR="45700" marL="457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150" u="none" cap="none" strike="noStrike"/>
                        <a:t>S3–S4</a:t>
                      </a:r>
                      <a:endParaRPr/>
                    </a:p>
                  </a:txBody>
                  <a:tcPr marT="22850" marB="22850" marR="45700" marL="457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150" u="none" cap="none" strike="noStrike"/>
                        <a:t>Jonathan y Sebastián</a:t>
                      </a:r>
                      <a:endParaRPr/>
                    </a:p>
                  </a:txBody>
                  <a:tcPr marT="22850" marB="22850" marR="45700" marL="45700" anchor="ctr"/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150" u="none" cap="none" strike="noStrike"/>
                        <a:t>Diseño de arquitectura e integración con Sybase</a:t>
                      </a:r>
                      <a:endParaRPr/>
                    </a:p>
                  </a:txBody>
                  <a:tcPr marT="22850" marB="22850" marR="45700" marL="457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150" u="none" cap="none" strike="noStrike"/>
                        <a:t>S5–S6</a:t>
                      </a:r>
                      <a:endParaRPr/>
                    </a:p>
                  </a:txBody>
                  <a:tcPr marT="22850" marB="22850" marR="45700" marL="457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150" u="none" cap="none" strike="noStrike"/>
                        <a:t>Jonathan</a:t>
                      </a:r>
                      <a:endParaRPr/>
                    </a:p>
                  </a:txBody>
                  <a:tcPr marT="22850" marB="22850" marR="45700" marL="45700" anchor="ctr"/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150" u="none" cap="none" strike="noStrike"/>
                        <a:t>Diseño de interfaz y experiencia de usuario (UX/UI)</a:t>
                      </a:r>
                      <a:endParaRPr/>
                    </a:p>
                  </a:txBody>
                  <a:tcPr marT="22850" marB="22850" marR="45700" marL="457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150" u="none" cap="none" strike="noStrike"/>
                        <a:t>S5–S6</a:t>
                      </a:r>
                      <a:endParaRPr/>
                    </a:p>
                  </a:txBody>
                  <a:tcPr marT="22850" marB="22850" marR="45700" marL="457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150" u="none" cap="none" strike="noStrike"/>
                        <a:t>Sebastián</a:t>
                      </a:r>
                      <a:endParaRPr/>
                    </a:p>
                  </a:txBody>
                  <a:tcPr marT="22850" marB="22850" marR="45700" marL="45700" anchor="ctr"/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150" u="none" cap="none" strike="noStrike"/>
                        <a:t>Módulo de acceso y selección de especie</a:t>
                      </a:r>
                      <a:endParaRPr/>
                    </a:p>
                  </a:txBody>
                  <a:tcPr marT="22850" marB="22850" marR="45700" marL="457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150" u="none" cap="none" strike="noStrike"/>
                        <a:t>S7</a:t>
                      </a:r>
                      <a:endParaRPr/>
                    </a:p>
                  </a:txBody>
                  <a:tcPr marT="22850" marB="22850" marR="45700" marL="457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150" u="none" cap="none" strike="noStrike"/>
                        <a:t>Jonathan</a:t>
                      </a:r>
                      <a:endParaRPr/>
                    </a:p>
                  </a:txBody>
                  <a:tcPr marT="22850" marB="22850" marR="45700" marL="45700" anchor="ctr"/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150" u="none" cap="none" strike="noStrike"/>
                        <a:t>Planilla dinámica de recepción</a:t>
                      </a:r>
                      <a:endParaRPr/>
                    </a:p>
                  </a:txBody>
                  <a:tcPr marT="22850" marB="22850" marR="45700" marL="457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150" u="none" cap="none" strike="noStrike"/>
                        <a:t>S8–S10</a:t>
                      </a:r>
                      <a:endParaRPr/>
                    </a:p>
                  </a:txBody>
                  <a:tcPr marT="22850" marB="22850" marR="45700" marL="457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150" u="none" cap="none" strike="noStrike"/>
                        <a:t>Jonathan</a:t>
                      </a:r>
                      <a:endParaRPr/>
                    </a:p>
                  </a:txBody>
                  <a:tcPr marT="22850" marB="22850" marR="45700" marL="45700" anchor="ctr"/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150" u="none" cap="none" strike="noStrike"/>
                        <a:t>Color, madurez y calibres</a:t>
                      </a:r>
                      <a:endParaRPr/>
                    </a:p>
                  </a:txBody>
                  <a:tcPr marT="22850" marB="22850" marR="45700" marL="457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150" u="none" cap="none" strike="noStrike"/>
                        <a:t>S11–S12</a:t>
                      </a:r>
                      <a:endParaRPr/>
                    </a:p>
                  </a:txBody>
                  <a:tcPr marT="22850" marB="22850" marR="45700" marL="457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150" u="none" cap="none" strike="noStrike"/>
                        <a:t>Jonathan</a:t>
                      </a:r>
                      <a:endParaRPr/>
                    </a:p>
                  </a:txBody>
                  <a:tcPr marT="22850" marB="22850" marR="45700" marL="45700" anchor="ctr"/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150" u="none" cap="none" strike="noStrike"/>
                        <a:t>Matriz de defectos y estimación</a:t>
                      </a:r>
                      <a:endParaRPr/>
                    </a:p>
                  </a:txBody>
                  <a:tcPr marT="22850" marB="22850" marR="45700" marL="457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150" u="none" cap="none" strike="noStrike"/>
                        <a:t>S13–S14</a:t>
                      </a:r>
                      <a:endParaRPr/>
                    </a:p>
                  </a:txBody>
                  <a:tcPr marT="22850" marB="22850" marR="45700" marL="457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150" u="none" cap="none" strike="noStrike"/>
                        <a:t>Jonathan</a:t>
                      </a:r>
                      <a:endParaRPr/>
                    </a:p>
                  </a:txBody>
                  <a:tcPr marT="22850" marB="22850" marR="45700" marL="45700" anchor="ctr"/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150" u="none" cap="none" strike="noStrike"/>
                        <a:t>Resolución de lote y observaciones</a:t>
                      </a:r>
                      <a:endParaRPr/>
                    </a:p>
                  </a:txBody>
                  <a:tcPr marT="22850" marB="22850" marR="45700" marL="457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150" u="none" cap="none" strike="noStrike"/>
                        <a:t>S15</a:t>
                      </a:r>
                      <a:endParaRPr/>
                    </a:p>
                  </a:txBody>
                  <a:tcPr marT="22850" marB="22850" marR="45700" marL="457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150" u="none" cap="none" strike="noStrike"/>
                        <a:t>Jonathan</a:t>
                      </a:r>
                      <a:endParaRPr/>
                    </a:p>
                  </a:txBody>
                  <a:tcPr marT="22850" marB="22850" marR="45700" marL="45700" anchor="ctr"/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150" u="none" cap="none" strike="noStrike"/>
                        <a:t>Pruebas funcionales e integrales</a:t>
                      </a:r>
                      <a:endParaRPr/>
                    </a:p>
                  </a:txBody>
                  <a:tcPr marT="22850" marB="22850" marR="45700" marL="457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150" u="none" cap="none" strike="noStrike"/>
                        <a:t>S16</a:t>
                      </a:r>
                      <a:endParaRPr/>
                    </a:p>
                  </a:txBody>
                  <a:tcPr marT="22850" marB="22850" marR="45700" marL="457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150" u="none" cap="none" strike="noStrike"/>
                        <a:t>Jonathan y Sebastián</a:t>
                      </a:r>
                      <a:endParaRPr/>
                    </a:p>
                  </a:txBody>
                  <a:tcPr marT="22850" marB="22850" marR="45700" marL="45700" anchor="ctr"/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150" u="none" cap="none" strike="noStrike"/>
                        <a:t>Documentación y cierre del proyecto</a:t>
                      </a:r>
                      <a:endParaRPr/>
                    </a:p>
                  </a:txBody>
                  <a:tcPr marT="22850" marB="22850" marR="45700" marL="457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150" u="none" cap="none" strike="noStrike"/>
                        <a:t>S17–S18</a:t>
                      </a:r>
                      <a:endParaRPr/>
                    </a:p>
                  </a:txBody>
                  <a:tcPr marT="22850" marB="22850" marR="45700" marL="457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150" u="none" cap="none" strike="noStrike"/>
                        <a:t>Jonathan y Sebastián</a:t>
                      </a:r>
                      <a:endParaRPr/>
                    </a:p>
                  </a:txBody>
                  <a:tcPr marT="22850" marB="22850" marR="45700" marL="457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4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CL" sz="5400">
                <a:latin typeface="Calibri"/>
                <a:ea typeface="Calibri"/>
                <a:cs typeface="Calibri"/>
                <a:sym typeface="Calibri"/>
              </a:rPr>
              <a:t>Evidencias esperadas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-CL"/>
              <a:t>Evidencias Esperadas del Proyecto</a:t>
            </a:r>
            <a:endParaRPr/>
          </a:p>
        </p:txBody>
      </p:sp>
      <p:graphicFrame>
        <p:nvGraphicFramePr>
          <p:cNvPr id="137" name="Google Shape;137;p15"/>
          <p:cNvGraphicFramePr/>
          <p:nvPr/>
        </p:nvGraphicFramePr>
        <p:xfrm>
          <a:off x="294150" y="1218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{47DC807F-A405-4548-83C1-0E1C250D2D64}</a:tableStyleId>
              </a:tblPr>
              <a:tblGrid>
                <a:gridCol w="900000"/>
                <a:gridCol w="2900000"/>
                <a:gridCol w="4755700"/>
              </a:tblGrid>
              <a:tr h="10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400" u="none" cap="none" strike="noStrike">
                          <a:solidFill>
                            <a:srgbClr val="FFFFFF"/>
                          </a:solidFill>
                        </a:rPr>
                        <a:t>Tipo</a:t>
                      </a:r>
                      <a:endParaRPr/>
                    </a:p>
                  </a:txBody>
                  <a:tcPr marT="22850" marB="22850" marR="45700" marL="45700" anchor="ctr">
                    <a:solidFill>
                      <a:srgbClr val="1727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400" u="none" cap="none" strike="noStrike">
                          <a:solidFill>
                            <a:srgbClr val="FFFFFF"/>
                          </a:solidFill>
                        </a:rPr>
                        <a:t>Nombre de la evidencia</a:t>
                      </a:r>
                      <a:endParaRPr/>
                    </a:p>
                  </a:txBody>
                  <a:tcPr marT="22850" marB="22850" marR="45700" marL="45700" anchor="ctr">
                    <a:solidFill>
                      <a:srgbClr val="1727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400" u="none" cap="none" strike="noStrike">
                          <a:solidFill>
                            <a:srgbClr val="FFFFFF"/>
                          </a:solidFill>
                        </a:rPr>
                        <a:t>Descripción</a:t>
                      </a:r>
                      <a:endParaRPr/>
                    </a:p>
                  </a:txBody>
                  <a:tcPr marT="22850" marB="22850" marR="45700" marL="45700" anchor="ctr">
                    <a:solidFill>
                      <a:srgbClr val="172740"/>
                    </a:solidFill>
                  </a:tcPr>
                </a:tc>
              </a:tr>
              <a:tr h="10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rgbClr val="00A0DE"/>
                          </a:solidFill>
                        </a:rPr>
                        <a:t>Avance</a:t>
                      </a:r>
                      <a:endParaRPr/>
                    </a:p>
                  </a:txBody>
                  <a:tcPr marT="22850" marB="22850" marR="45700" marL="457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200" u="none" cap="none" strike="noStrike"/>
                        <a:t>Levantamiento de Requerimientos y Diseño de Arquitectura</a:t>
                      </a:r>
                      <a:endParaRPr/>
                    </a:p>
                  </a:txBody>
                  <a:tcPr marT="22850" marB="22850" marR="45700" marL="457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200" u="none" cap="none" strike="noStrike"/>
                        <a:t>Requerimientos funcionales, modelo de datos/integración con Sybase y mockups de la interfaz.</a:t>
                      </a:r>
                      <a:endParaRPr/>
                    </a:p>
                  </a:txBody>
                  <a:tcPr marT="22850" marB="22850" marR="45700" marL="45700" anchor="ctr"/>
                </a:tc>
              </a:tr>
              <a:tr h="10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rgbClr val="00A0DE"/>
                          </a:solidFill>
                        </a:rPr>
                        <a:t>Avance</a:t>
                      </a:r>
                      <a:endParaRPr/>
                    </a:p>
                  </a:txBody>
                  <a:tcPr marT="22850" marB="22850" marR="45700" marL="457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200" u="none" cap="none" strike="noStrike"/>
                        <a:t>Prototipo funcional (Selección de Especie y Planilla)</a:t>
                      </a:r>
                      <a:endParaRPr/>
                    </a:p>
                  </a:txBody>
                  <a:tcPr marT="22850" marB="22850" marR="45700" marL="457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200" u="none" cap="none" strike="noStrike"/>
                        <a:t>Login, selección de especie y planilla de datos principales operativos.</a:t>
                      </a:r>
                      <a:endParaRPr/>
                    </a:p>
                  </a:txBody>
                  <a:tcPr marT="22850" marB="22850" marR="45700" marL="45700" anchor="ctr"/>
                </a:tc>
              </a:tr>
              <a:tr h="10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rgbClr val="DE3075"/>
                          </a:solidFill>
                        </a:rPr>
                        <a:t>Final</a:t>
                      </a:r>
                      <a:endParaRPr/>
                    </a:p>
                  </a:txBody>
                  <a:tcPr marT="22850" marB="22850" marR="45700" marL="457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200" u="none" cap="none" strike="noStrike"/>
                        <a:t>Sistema web SUIZASOFT – Módulo de Calidad (versión final)</a:t>
                      </a:r>
                      <a:endParaRPr/>
                    </a:p>
                  </a:txBody>
                  <a:tcPr marT="22850" marB="22850" marR="45700" marL="457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200" u="none" cap="none" strike="noStrike"/>
                        <a:t>Sistema completo: recepción, color/madurez, calibres, defectos, estimación y liberación de lote.</a:t>
                      </a:r>
                      <a:endParaRPr/>
                    </a:p>
                  </a:txBody>
                  <a:tcPr marT="22850" marB="22850" marR="45700" marL="45700" anchor="ctr"/>
                </a:tc>
              </a:tr>
              <a:tr h="10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rgbClr val="DE3075"/>
                          </a:solidFill>
                        </a:rPr>
                        <a:t>Final</a:t>
                      </a:r>
                      <a:endParaRPr/>
                    </a:p>
                  </a:txBody>
                  <a:tcPr marT="22850" marB="22850" marR="45700" marL="457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200" u="none" cap="none" strike="noStrike"/>
                        <a:t>Manual de Usuario e Informe Final del Proyecto APT</a:t>
                      </a:r>
                      <a:endParaRPr/>
                    </a:p>
                  </a:txBody>
                  <a:tcPr marT="22850" marB="22850" marR="45700" marL="457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L" sz="1200" u="none" cap="none" strike="noStrike"/>
                        <a:t>Manual de uso para operarios e informe final del proceso de desarrollo y resultados.</a:t>
                      </a:r>
                      <a:endParaRPr/>
                    </a:p>
                  </a:txBody>
                  <a:tcPr marT="22850" marB="22850" marR="45700" marL="457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6"/>
          <p:cNvSpPr txBox="1"/>
          <p:nvPr>
            <p:ph type="title"/>
          </p:nvPr>
        </p:nvSpPr>
        <p:spPr>
          <a:xfrm>
            <a:off x="3004575" y="3476149"/>
            <a:ext cx="5995800" cy="2459429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br>
              <a:rPr lang="es-CL"/>
            </a:br>
            <a:r>
              <a:rPr lang="es-CL"/>
              <a:t>Preguntas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DUOC 2">
      <a:dk1>
        <a:srgbClr val="172740"/>
      </a:dk1>
      <a:lt1>
        <a:srgbClr val="FFFFFF"/>
      </a:lt1>
      <a:dk2>
        <a:srgbClr val="81888F"/>
      </a:dk2>
      <a:lt2>
        <a:srgbClr val="FBC842"/>
      </a:lt2>
      <a:accent1>
        <a:srgbClr val="DE3075"/>
      </a:accent1>
      <a:accent2>
        <a:srgbClr val="702785"/>
      </a:accent2>
      <a:accent3>
        <a:srgbClr val="BDD503"/>
      </a:accent3>
      <a:accent4>
        <a:srgbClr val="00A0DE"/>
      </a:accent4>
      <a:accent5>
        <a:srgbClr val="FA742C"/>
      </a:accent5>
      <a:accent6>
        <a:srgbClr val="AE0F0F"/>
      </a:accent6>
      <a:hlink>
        <a:srgbClr val="723714"/>
      </a:hlink>
      <a:folHlink>
        <a:srgbClr val="6B79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2020-01-19T17:40:32Z</dcterms:created>
  <dc:creator>Victor Rodrigo Galaz Silva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0x0101006A490DE1D59CF8418FDA5A26334C9654</vt:lpwstr>
  </property>
</Properties>
</file>